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2" r:id="rId4"/>
    <p:sldId id="264" r:id="rId5"/>
    <p:sldId id="265" r:id="rId6"/>
    <p:sldId id="266" r:id="rId7"/>
    <p:sldId id="267" r:id="rId8"/>
    <p:sldId id="269" r:id="rId9"/>
    <p:sldId id="270" r:id="rId10"/>
    <p:sldId id="272" r:id="rId11"/>
    <p:sldId id="274" r:id="rId12"/>
    <p:sldId id="27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52DCF-5E57-D2AD-55C7-38D9234DD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AEE7D6-F3DE-0280-6116-E7D09E305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055A11-82D8-7245-181F-E8302531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A2396C-F37D-E7D7-0DC4-4A5466D9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53AC6A-C964-4800-20B0-AE53EAA0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36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39DF-9EC0-3A8F-78D6-9FFC8A18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546F4E-E61B-3B93-BAA5-A06D3363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AFF786-98C5-BB44-3A49-E903E76C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B94BD8-C310-CCFD-95E8-B752496E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353C30-4507-A69B-47B2-35829E29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55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5ACB6-9579-7813-9C0A-1FB1320D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CAB5DE-D972-E4A3-8256-CE997C67C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C9AAF-413E-1404-BF13-944C8153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BF598-D3A8-9102-52CE-D3F6CD03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37E272-BE1E-C656-9C77-30610E1C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9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96058-72B8-D90D-DBD1-A9D8AFFB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25FB65-32EA-34B3-43FE-A4BFE6867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F74D65-098B-2064-4518-259B78E0D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209BF7-D855-84B3-85FC-0D98A65F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18DEB0-7E9B-299C-7702-8E29E065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537C4A-A260-BA6B-B0A1-C99C6EFD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07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19785-F60B-92F6-3A52-7BC9513B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6EDC9C-FA49-8221-D074-BB9121CB7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F144C9-0304-2E1C-3286-943E9382B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1D18B3-D82C-7747-2150-6234D4082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96C1083-CA4B-0B6A-6734-B4B2ACBF0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806310-C444-B5BE-90A7-9C3C1DD3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637722-8A1B-59D1-E573-D0507189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D9F98C-F59D-3895-341B-2C0904E1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43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849BA-3A95-8C73-2435-259FA265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B6F275-DE51-EA71-2FFA-77B62C1D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3B70DA-439A-5C96-CE76-855EA454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8BE92F-1FBB-45ED-DC98-ED91D414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44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77CDB1-EC96-F7D8-F11B-A8B0358A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F6BF78-9BF0-632C-9011-5D7A65AD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EBE640-419A-9BCD-345C-AD5A823F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09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0C392-E27B-7CA7-B6FE-B1D162B4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3C9670-820A-3DA3-A692-39B25749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42EE32-E89D-AF3C-6C18-E92E7A82A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72C34E-8D8A-9D65-2B8A-9153ED26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C64AB1-B640-8024-F8B1-E8EC6FDF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5B5165-E15A-C30D-28A0-B6E0E726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25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CDA92-F5E2-B087-2162-D0CABF32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7863A5-D228-0B6C-58A8-A0002781E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645858-F6EF-BAA5-98D1-EE0F1D3E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D8AD3B-4D6E-F178-A70D-9D8ABD19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0340A8-3A51-E02C-F7A8-30748168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3F4B6B-F90C-362E-E3DB-50ACCDA2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64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BEBF4F-5271-29A0-C14E-5D67C28E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73082-F46E-8F01-AD64-AF43D82FB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EFF6EF-6524-FED1-DD69-81448076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2EECF4-3795-73BA-E4EC-A20C009F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E70B-29E7-9D5E-54FE-474B9D2B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95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7AFA40-7DB2-990A-F219-32F4510F1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4A8D49-2C8D-BAA4-142D-B22049DEE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AFC097-34C5-CECB-4252-5470F0B1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4D3084-C0CB-1A00-7604-2F2467AF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DB22E6-11D3-8692-9E6C-B887D4E1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05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65460-D6DC-B4D3-EF79-39B9615D5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E81E07-32F7-3DFF-4432-CA345CEB2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6A45C4-6422-9773-9C99-C1DD3E26A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F2287-3710-46D9-BD05-095C6C81A5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F35824-6463-0C62-D6DC-3FD67111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47A76E-A01A-13DB-3295-8697D1474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E9ECC-5310-40F0-B95E-3F7857C9A7B0}" type="slidenum">
              <a:rPr lang="ru-RU" smtClean="0"/>
              <a:t>‹#›</a:t>
            </a:fld>
            <a:endParaRPr lang="ru-RU"/>
          </a:p>
        </p:txBody>
      </p:sp>
      <p:sp>
        <p:nvSpPr>
          <p:cNvPr id="900" name="Accent Bar"/>
          <p:cNvSpPr/>
          <p:nvPr userDrawn="1"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99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A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CC325-4FB9-D893-3F89-E6AF596D3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ru-RU" sz="4400" b="1" dirty="0">
                <a:solidFill>
                  <a:srgbClr val="1F4E79"/>
                </a:solidFill>
                <a:latin typeface="Cambria"/>
              </a:rPr>
              <a:t>ControlFlow</a:t>
            </a:r>
          </a:p>
          <a:p>
            <a:pPr algn="ctr">
              <a:buNone/>
            </a:pPr>
            <a:r>
              <a:rPr lang="ru-RU" sz="2000" dirty="0">
                <a:solidFill>
                  <a:srgbClr val="1F2A44"/>
                </a:solidFill>
                <a:latin typeface="Calibri"/>
              </a:rPr>
              <a:t>Корпоративный планировщик задач с Kanban-доской, ролевой моделью и AI-генерацией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28867B-12F2-8853-1345-B6B081DD8B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sz="1600" dirty="0">
                <a:solidFill>
                  <a:srgbClr val="636E80"/>
                </a:solidFill>
                <a:latin typeface="Calibri"/>
              </a:rPr>
              <a:t>Выпускная квалификационная работа</a:t>
            </a:r>
          </a:p>
          <a:p>
            <a:pPr algn="ctr">
              <a:buNone/>
            </a:pPr>
            <a:r>
              <a:rPr lang="ru-RU" sz="1600" dirty="0">
                <a:solidFill>
                  <a:srgbClr val="636E80"/>
                </a:solidFill>
                <a:latin typeface="Calibri"/>
              </a:rPr>
              <a:t>Автор: dizzy-166 · 2026</a:t>
            </a:r>
          </a:p>
        </p:txBody>
      </p:sp>
    </p:spTree>
    <p:extLst>
      <p:ext uri="{BB962C8B-B14F-4D97-AF65-F5344CB8AC3E}">
        <p14:creationId xmlns:p14="http://schemas.microsoft.com/office/powerpoint/2010/main" val="399324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29A7F-5A68-1716-EF1A-66CF6BB9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3200" b="1" dirty="0">
                <a:solidFill>
                  <a:srgbClr val="1F4E79"/>
                </a:solidFill>
                <a:latin typeface="Cambria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7CFE4E-156E-154C-94E7-D32AFAD18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rgbClr val="1F2A44"/>
                </a:solidFill>
                <a:latin typeface="Calibri"/>
              </a:rPr>
              <a:t>Рост удалённой и распределённой работы требует единого пространства для планирования и контроля задач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rgbClr val="1F2A44"/>
                </a:solidFill>
                <a:latin typeface="Calibri"/>
              </a:rPr>
              <a:t>Существующие решения часто либо избыточны и дороги (Jira, Asana), либо лишены гибкой ролевой модели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rgbClr val="1F2A44"/>
                </a:solidFill>
                <a:latin typeface="Calibri"/>
              </a:rPr>
              <a:t>Высокая нагрузка на руководителей при ручной декомпозиции крупных задач — нужна автоматизация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/>
              <a:buChar char="•"/>
            </a:pPr>
            <a:r>
              <a:rPr lang="ru-RU" sz="1800" dirty="0">
                <a:solidFill>
                  <a:srgbClr val="1F2A44"/>
                </a:solidFill>
                <a:latin typeface="Calibri"/>
              </a:rPr>
              <a:t>Малому и среднему бизнесу нужна доступная корпоративная среда с мультитенантностью и кастомными ролями</a:t>
            </a:r>
          </a:p>
        </p:txBody>
      </p:sp>
    </p:spTree>
    <p:extLst>
      <p:ext uri="{BB962C8B-B14F-4D97-AF65-F5344CB8AC3E}">
        <p14:creationId xmlns:p14="http://schemas.microsoft.com/office/powerpoint/2010/main" val="43704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071DF-A911-4515-9862-B52836F2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3200" b="1" dirty="0">
                <a:solidFill>
                  <a:srgbClr val="1F4E79"/>
                </a:solidFill>
                <a:latin typeface="Cambria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8AE094-6E4A-A9D3-07A0-40360A390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ru-RU" sz="2000" b="1" dirty="0">
                <a:solidFill>
                  <a:srgbClr val="1F4E79"/>
                </a:solidFill>
                <a:latin typeface="Calibri"/>
              </a:rPr>
              <a:t>Цель работы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Разработать веб-приложение для управления задачами в команде с гибкой ролевой моделью и встроенным AI-ассистентом</a:t>
            </a:r>
          </a:p>
          <a:p>
            <a:pPr>
              <a:spcBef>
                <a:spcPts val="400"/>
              </a:spcBef>
              <a:buNone/>
            </a:pPr>
            <a:r>
              <a:rPr lang="ru-RU" sz="2000" b="1" dirty="0">
                <a:solidFill>
                  <a:srgbClr val="1F4E79"/>
                </a:solidFill>
                <a:latin typeface="Calibri"/>
              </a:rPr>
              <a:t>Задачи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Спроектировать модель данных с поддержкой мультитенантности и ролей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Реализовать REST API на Django REST Framework с JWT-авторизацией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Разработать SPA-интерфейс на React 19 с Kanban, списком и диаграммой Ганта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Интегрировать языковую модель Cerebras Llama 3.1 для генерации и анализа задач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Развернуть систему на Render и Vercel и подготовить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145031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22508-E1A1-5AB8-F19B-33F45ABD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3200" b="1" dirty="0">
                <a:solidFill>
                  <a:srgbClr val="1F4E79"/>
                </a:solidFill>
                <a:latin typeface="Cambria"/>
              </a:rPr>
              <a:t>Функциональность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FD431C-64F6-7A79-BF7D-34A6F73DD4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ts val="2400"/>
              </a:lnSpc>
              <a:spcBef>
                <a:spcPts val="400"/>
              </a:spcBef>
              <a:buNone/>
            </a:pPr>
            <a:r>
              <a:rPr lang="ru-RU" sz="2000" b="1" dirty="0">
                <a:solidFill>
                  <a:srgbClr val="1F4E79"/>
                </a:solidFill>
                <a:latin typeface="Calibri"/>
              </a:rPr>
              <a:t>Управление задачами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Канбан-доска с drag-and-drop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Список и диаграмма Ганта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Подзадачи с прогресс-баром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Тайм-трекер и история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Фильтрация по проектам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874F35-FE8D-B4FA-203B-B0C41DAB2E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ts val="2400"/>
              </a:lnSpc>
              <a:spcBef>
                <a:spcPts val="400"/>
              </a:spcBef>
              <a:buNone/>
            </a:pPr>
            <a:r>
              <a:rPr lang="ru-RU" sz="2000" b="1" dirty="0">
                <a:solidFill>
                  <a:srgbClr val="1F4E79"/>
                </a:solidFill>
                <a:latin typeface="Calibri"/>
              </a:rPr>
              <a:t>Совместная работа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Мультитенантность — компании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Роли Owner / Admin / Member и кастомные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Чат в реальном времени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Лента уведомлений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AI-генерация и анализ задач</a:t>
            </a:r>
          </a:p>
        </p:txBody>
      </p:sp>
    </p:spTree>
    <p:extLst>
      <p:ext uri="{BB962C8B-B14F-4D97-AF65-F5344CB8AC3E}">
        <p14:creationId xmlns:p14="http://schemas.microsoft.com/office/powerpoint/2010/main" val="181316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B9617-8F6B-729B-3E7B-3F966EBC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>
                <a:latin typeface="Cambria"/>
                <a:ea typeface="Cambria"/>
              </a:rPr>
              <a:t>Архитектура системы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E1775-1B7D-443A-86D2-A077D51A56CD}"/>
              </a:ext>
            </a:extLst>
          </p:cNvPr>
          <p:cNvSpPr txBox="1"/>
          <p:nvPr/>
        </p:nvSpPr>
        <p:spPr>
          <a:xfrm>
            <a:off x="508000" y="15875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600" b="1">
                <a:solidFill>
                  <a:srgbClr val="1F4E79"/>
                </a:solidFill>
                <a:latin typeface="Cambria"/>
                <a:ea typeface="Cambria"/>
              </a:rPr>
              <a:t>Клиент (</a:t>
            </a:r>
            <a:r>
              <a:rPr lang="en-US" sz="1600" b="1">
                <a:solidFill>
                  <a:srgbClr val="1F4E79"/>
                </a:solidFill>
                <a:latin typeface="Cambria"/>
                <a:ea typeface="Cambria"/>
              </a:rPr>
              <a:t>Vercel)</a:t>
            </a:r>
            <a:endParaRPr lang="ru-RU" sz="1600" b="1">
              <a:solidFill>
                <a:srgbClr val="1F4E79"/>
              </a:solidFill>
              <a:latin typeface="Cambria"/>
              <a:ea typeface="Cambria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0FF267D-88B5-4A3E-9F58-6EACCC94907B}"/>
              </a:ext>
            </a:extLst>
          </p:cNvPr>
          <p:cNvSpPr/>
          <p:nvPr/>
        </p:nvSpPr>
        <p:spPr>
          <a:xfrm>
            <a:off x="508000" y="2032000"/>
            <a:ext cx="2794000" cy="635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19 + Vite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32376CD-E6E1-47F7-842B-75025625FF13}"/>
              </a:ext>
            </a:extLst>
          </p:cNvPr>
          <p:cNvSpPr/>
          <p:nvPr/>
        </p:nvSpPr>
        <p:spPr>
          <a:xfrm>
            <a:off x="508000" y="2794000"/>
            <a:ext cx="2794000" cy="635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Zustand · Axios · Router 7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98C841F-210C-4355-9A03-324598E34C2F}"/>
              </a:ext>
            </a:extLst>
          </p:cNvPr>
          <p:cNvSpPr/>
          <p:nvPr/>
        </p:nvSpPr>
        <p:spPr>
          <a:xfrm>
            <a:off x="508000" y="3556000"/>
            <a:ext cx="2794000" cy="635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Kanban · Gantt · Chat UI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E88A8-4265-420C-A267-A79A33FC5295}"/>
              </a:ext>
            </a:extLst>
          </p:cNvPr>
          <p:cNvSpPr txBox="1"/>
          <p:nvPr/>
        </p:nvSpPr>
        <p:spPr>
          <a:xfrm>
            <a:off x="4699000" y="15875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600" b="1">
                <a:solidFill>
                  <a:srgbClr val="1F4E79"/>
                </a:solidFill>
                <a:latin typeface="Cambria"/>
                <a:ea typeface="Cambria"/>
              </a:rPr>
              <a:t>Сервер (</a:t>
            </a:r>
            <a:r>
              <a:rPr lang="en-US" sz="1600" b="1">
                <a:solidFill>
                  <a:srgbClr val="1F4E79"/>
                </a:solidFill>
                <a:latin typeface="Cambria"/>
                <a:ea typeface="Cambria"/>
              </a:rPr>
              <a:t>Render)</a:t>
            </a:r>
            <a:endParaRPr lang="ru-RU" sz="1600" b="1">
              <a:solidFill>
                <a:srgbClr val="1F4E79"/>
              </a:solidFill>
              <a:latin typeface="Cambria"/>
              <a:ea typeface="Cambria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1EECC99-7994-46E2-BDF8-12D6BC5408AB}"/>
              </a:ext>
            </a:extLst>
          </p:cNvPr>
          <p:cNvSpPr/>
          <p:nvPr/>
        </p:nvSpPr>
        <p:spPr>
          <a:xfrm>
            <a:off x="4699000" y="2032000"/>
            <a:ext cx="2794000" cy="635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 6 + DRF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0EE5D14-0CC2-463C-B66E-BA0F3ECE08EF}"/>
              </a:ext>
            </a:extLst>
          </p:cNvPr>
          <p:cNvSpPr/>
          <p:nvPr/>
        </p:nvSpPr>
        <p:spPr>
          <a:xfrm>
            <a:off x="4699000" y="2794000"/>
            <a:ext cx="2794000" cy="635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SimpleJWT · spectacular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40E35EE-A263-4CD6-A74E-AF0FF2F43F24}"/>
              </a:ext>
            </a:extLst>
          </p:cNvPr>
          <p:cNvSpPr/>
          <p:nvPr/>
        </p:nvSpPr>
        <p:spPr>
          <a:xfrm>
            <a:off x="4699000" y="3556000"/>
            <a:ext cx="2794000" cy="635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Gunicorn · WhiteNoise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B9379-8291-4D2C-A890-CCC8B903DDD4}"/>
              </a:ext>
            </a:extLst>
          </p:cNvPr>
          <p:cNvSpPr txBox="1"/>
          <p:nvPr/>
        </p:nvSpPr>
        <p:spPr>
          <a:xfrm>
            <a:off x="8890000" y="15875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600" b="1">
                <a:solidFill>
                  <a:srgbClr val="1F4E79"/>
                </a:solidFill>
                <a:latin typeface="Cambria"/>
                <a:ea typeface="Cambria"/>
              </a:rPr>
              <a:t>Данные и сервисы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DE3B490-16FB-4DD9-9694-336D3B43D741}"/>
              </a:ext>
            </a:extLst>
          </p:cNvPr>
          <p:cNvSpPr/>
          <p:nvPr/>
        </p:nvSpPr>
        <p:spPr>
          <a:xfrm>
            <a:off x="8890000" y="2032000"/>
            <a:ext cx="2794000" cy="635000"/>
          </a:xfrm>
          <a:prstGeom prst="roundRect">
            <a:avLst/>
          </a:prstGeom>
          <a:solidFill>
            <a:srgbClr val="5482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 16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3A213C5-E9D6-41BF-8299-7C0222EAFCF0}"/>
              </a:ext>
            </a:extLst>
          </p:cNvPr>
          <p:cNvSpPr/>
          <p:nvPr/>
        </p:nvSpPr>
        <p:spPr>
          <a:xfrm>
            <a:off x="8890000" y="2794000"/>
            <a:ext cx="2794000" cy="635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Cerebras (Llama 3.1)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A4818FD-C16C-45A5-A0C0-8E744D25A00F}"/>
              </a:ext>
            </a:extLst>
          </p:cNvPr>
          <p:cNvSpPr/>
          <p:nvPr/>
        </p:nvSpPr>
        <p:spPr>
          <a:xfrm>
            <a:off x="8890000" y="3556000"/>
            <a:ext cx="2794000" cy="635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Brevo (email)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A2A9412E-E9DF-45C5-B3E3-4D66A3353A8D}"/>
              </a:ext>
            </a:extLst>
          </p:cNvPr>
          <p:cNvSpPr/>
          <p:nvPr/>
        </p:nvSpPr>
        <p:spPr>
          <a:xfrm>
            <a:off x="3378200" y="2260600"/>
            <a:ext cx="12446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624855C8-A145-470B-B340-797F6DB07529}"/>
              </a:ext>
            </a:extLst>
          </p:cNvPr>
          <p:cNvSpPr/>
          <p:nvPr/>
        </p:nvSpPr>
        <p:spPr>
          <a:xfrm>
            <a:off x="3378200" y="3022600"/>
            <a:ext cx="12446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8BE8B8D0-4556-4B6E-96E6-4F9364800EE4}"/>
              </a:ext>
            </a:extLst>
          </p:cNvPr>
          <p:cNvSpPr/>
          <p:nvPr/>
        </p:nvSpPr>
        <p:spPr>
          <a:xfrm>
            <a:off x="7569200" y="2260600"/>
            <a:ext cx="12446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BF2AEDAB-121A-437B-A364-4E34396D1A52}"/>
              </a:ext>
            </a:extLst>
          </p:cNvPr>
          <p:cNvSpPr/>
          <p:nvPr/>
        </p:nvSpPr>
        <p:spPr>
          <a:xfrm>
            <a:off x="7569200" y="3022600"/>
            <a:ext cx="12446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19472A49-5826-4001-B24C-3E3C3F03FC29}"/>
              </a:ext>
            </a:extLst>
          </p:cNvPr>
          <p:cNvSpPr/>
          <p:nvPr/>
        </p:nvSpPr>
        <p:spPr>
          <a:xfrm>
            <a:off x="7569200" y="3784600"/>
            <a:ext cx="12446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BD697-DF38-40E2-84CB-207CE0C5F468}"/>
              </a:ext>
            </a:extLst>
          </p:cNvPr>
          <p:cNvSpPr txBox="1"/>
          <p:nvPr/>
        </p:nvSpPr>
        <p:spPr>
          <a:xfrm>
            <a:off x="508000" y="4572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36E80"/>
                </a:solidFill>
                <a:latin typeface="Calibri"/>
                <a:ea typeface="Calibri"/>
                <a:cs typeface="Calibri"/>
              </a:rPr>
              <a:t>REST API /api/v1/ · JWT-</a:t>
            </a:r>
            <a:r>
              <a:rPr lang="ru-RU" sz="1400" i="1">
                <a:solidFill>
                  <a:srgbClr val="636E80"/>
                </a:solidFill>
                <a:latin typeface="Calibri"/>
                <a:ea typeface="Calibri"/>
                <a:cs typeface="Calibri"/>
              </a:rPr>
              <a:t>аутентификация · </a:t>
            </a:r>
            <a:r>
              <a:rPr lang="en-US" sz="1400" i="1">
                <a:solidFill>
                  <a:srgbClr val="636E80"/>
                </a:solidFill>
                <a:latin typeface="Calibri"/>
                <a:ea typeface="Calibri"/>
                <a:cs typeface="Calibri"/>
              </a:rPr>
              <a:t>OpenAPI-</a:t>
            </a:r>
            <a:r>
              <a:rPr lang="ru-RU" sz="1400" i="1">
                <a:solidFill>
                  <a:srgbClr val="636E80"/>
                </a:solidFill>
                <a:latin typeface="Calibri"/>
                <a:ea typeface="Calibri"/>
                <a:cs typeface="Calibri"/>
              </a:rPr>
              <a:t>документация /</a:t>
            </a:r>
            <a:r>
              <a:rPr lang="en-US" sz="1400" i="1">
                <a:solidFill>
                  <a:srgbClr val="636E80"/>
                </a:solidFill>
                <a:latin typeface="Calibri"/>
                <a:ea typeface="Calibri"/>
                <a:cs typeface="Calibri"/>
              </a:rPr>
              <a:t>api/docs/</a:t>
            </a:r>
            <a:endParaRPr lang="ru-RU" sz="1400" i="1">
              <a:solidFill>
                <a:srgbClr val="636E8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604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171D8-1A8F-3C07-0670-9C3DE279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>
                <a:latin typeface="Cambria"/>
                <a:ea typeface="Cambria"/>
              </a:rPr>
              <a:t>Технологический стек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4477396-A86F-443B-B6EA-9EE860399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12851"/>
              </p:ext>
            </p:extLst>
          </p:nvPr>
        </p:nvGraphicFramePr>
        <p:xfrm>
          <a:off x="508000" y="1524000"/>
          <a:ext cx="11176000" cy="4445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56221877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39201624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4222158922"/>
                    </a:ext>
                  </a:extLst>
                </a:gridCol>
              </a:tblGrid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Слой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Технология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Назначение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750314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Бэкенд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Django 6 + DRF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REST API, бизнес-логика, 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259906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Аутентификация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SimpleJWT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Токены доступа и обновления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02936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БД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PostgreSQL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Хранение задач, проектов, чатов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534419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Фронтенд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React 19 + Vite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SPA-интерфейс, маршрутизация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564407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Состояние и 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Zustand + Axios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Локальный стор и запросы к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714028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AI-сервис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Cerebras Llama 3.1 8B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Генерация и анализ задач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415178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Brevo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Верификация почты, сброс пароля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004159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Документация API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drf-spectacular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1F2A44"/>
                          </a:solidFill>
                          <a:latin typeface="Calibri"/>
                          <a:ea typeface="Calibri"/>
                          <a:cs typeface="Calibri"/>
                        </a:rPr>
                        <a:t>OpenAPI / Swagger-UI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43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60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266B8-7E30-877F-5214-7772E3B3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>
                <a:latin typeface="Cambria"/>
                <a:ea typeface="Cambria"/>
              </a:rPr>
              <a:t>Модель данных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0703EE-9CD0-4823-B714-EA5E0B684105}"/>
              </a:ext>
            </a:extLst>
          </p:cNvPr>
          <p:cNvSpPr/>
          <p:nvPr/>
        </p:nvSpPr>
        <p:spPr>
          <a:xfrm>
            <a:off x="381000" y="1651000"/>
            <a:ext cx="2222500" cy="1206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4284CF-B6F4-4B0D-885E-4CDDE7F688DD}"/>
              </a:ext>
            </a:extLst>
          </p:cNvPr>
          <p:cNvSpPr/>
          <p:nvPr/>
        </p:nvSpPr>
        <p:spPr>
          <a:xfrm>
            <a:off x="381000" y="1651000"/>
            <a:ext cx="2222500" cy="304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Company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F6507-1941-42A3-BF00-B6B4A0CA2FD9}"/>
              </a:ext>
            </a:extLst>
          </p:cNvPr>
          <p:cNvSpPr txBox="1"/>
          <p:nvPr/>
        </p:nvSpPr>
        <p:spPr>
          <a:xfrm>
            <a:off x="457200" y="1981200"/>
            <a:ext cx="2070100" cy="850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id
name
owner
created_at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CEA9E98-E531-4AEB-8110-9F90B1F95609}"/>
              </a:ext>
            </a:extLst>
          </p:cNvPr>
          <p:cNvSpPr/>
          <p:nvPr/>
        </p:nvSpPr>
        <p:spPr>
          <a:xfrm>
            <a:off x="5016500" y="1651000"/>
            <a:ext cx="2222500" cy="1206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595C7F7-F565-49E3-8D29-E061F28D32EF}"/>
              </a:ext>
            </a:extLst>
          </p:cNvPr>
          <p:cNvSpPr/>
          <p:nvPr/>
        </p:nvSpPr>
        <p:spPr>
          <a:xfrm>
            <a:off x="5016500" y="1651000"/>
            <a:ext cx="2222500" cy="304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D311B-5DE4-4A52-8DCB-8444BD8C332D}"/>
              </a:ext>
            </a:extLst>
          </p:cNvPr>
          <p:cNvSpPr txBox="1"/>
          <p:nvPr/>
        </p:nvSpPr>
        <p:spPr>
          <a:xfrm>
            <a:off x="5092700" y="1981200"/>
            <a:ext cx="2070100" cy="850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id
email
first_name
is_verified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50E178-EE35-48C1-BC2E-0355AD9E4139}"/>
              </a:ext>
            </a:extLst>
          </p:cNvPr>
          <p:cNvSpPr/>
          <p:nvPr/>
        </p:nvSpPr>
        <p:spPr>
          <a:xfrm>
            <a:off x="9588500" y="1651000"/>
            <a:ext cx="2222500" cy="1206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FB4546-08C9-42E4-9C45-318DAB45DDD2}"/>
              </a:ext>
            </a:extLst>
          </p:cNvPr>
          <p:cNvSpPr/>
          <p:nvPr/>
        </p:nvSpPr>
        <p:spPr>
          <a:xfrm>
            <a:off x="9588500" y="1651000"/>
            <a:ext cx="2222500" cy="304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Role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3BB65-282F-4AF8-9926-B50B492412F8}"/>
              </a:ext>
            </a:extLst>
          </p:cNvPr>
          <p:cNvSpPr txBox="1"/>
          <p:nvPr/>
        </p:nvSpPr>
        <p:spPr>
          <a:xfrm>
            <a:off x="9664700" y="1981200"/>
            <a:ext cx="2070100" cy="850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id
name
permissions[]
is_custom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610FBAA-8473-486F-B441-E6C416422DA6}"/>
              </a:ext>
            </a:extLst>
          </p:cNvPr>
          <p:cNvSpPr/>
          <p:nvPr/>
        </p:nvSpPr>
        <p:spPr>
          <a:xfrm>
            <a:off x="381000" y="3429000"/>
            <a:ext cx="2222500" cy="1206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5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F4F036C-35D3-45FA-BD02-A3B4625A347E}"/>
              </a:ext>
            </a:extLst>
          </p:cNvPr>
          <p:cNvSpPr/>
          <p:nvPr/>
        </p:nvSpPr>
        <p:spPr>
          <a:xfrm>
            <a:off x="381000" y="3429000"/>
            <a:ext cx="2222500" cy="304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998EA-4666-4EE8-9014-F5EEF54FAA6B}"/>
              </a:ext>
            </a:extLst>
          </p:cNvPr>
          <p:cNvSpPr txBox="1"/>
          <p:nvPr/>
        </p:nvSpPr>
        <p:spPr>
          <a:xfrm>
            <a:off x="457200" y="3759200"/>
            <a:ext cx="2070100" cy="850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id
company →
name
description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8E0CF6C-0718-4A3C-A973-91B489133B31}"/>
              </a:ext>
            </a:extLst>
          </p:cNvPr>
          <p:cNvSpPr/>
          <p:nvPr/>
        </p:nvSpPr>
        <p:spPr>
          <a:xfrm>
            <a:off x="2692400" y="3429000"/>
            <a:ext cx="22225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2D3ADD-982A-43C5-9604-BA8050C65BC2}"/>
              </a:ext>
            </a:extLst>
          </p:cNvPr>
          <p:cNvSpPr/>
          <p:nvPr/>
        </p:nvSpPr>
        <p:spPr>
          <a:xfrm>
            <a:off x="2692400" y="3429000"/>
            <a:ext cx="2222500" cy="304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Membership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C98166-77C6-4FE2-8052-CD3129B3ADDD}"/>
              </a:ext>
            </a:extLst>
          </p:cNvPr>
          <p:cNvSpPr txBox="1"/>
          <p:nvPr/>
        </p:nvSpPr>
        <p:spPr>
          <a:xfrm>
            <a:off x="2768600" y="3759200"/>
            <a:ext cx="20701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company →
user →
role →
joined_at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151D8BD-5C52-4804-832C-2F57EBA0818F}"/>
              </a:ext>
            </a:extLst>
          </p:cNvPr>
          <p:cNvSpPr/>
          <p:nvPr/>
        </p:nvSpPr>
        <p:spPr>
          <a:xfrm>
            <a:off x="5016500" y="3429000"/>
            <a:ext cx="22225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5482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DA37143-53CA-4B19-AA0F-519870B25C52}"/>
              </a:ext>
            </a:extLst>
          </p:cNvPr>
          <p:cNvSpPr/>
          <p:nvPr/>
        </p:nvSpPr>
        <p:spPr>
          <a:xfrm>
            <a:off x="5016500" y="3429000"/>
            <a:ext cx="2222500" cy="304800"/>
          </a:xfrm>
          <a:prstGeom prst="rect">
            <a:avLst/>
          </a:prstGeom>
          <a:solidFill>
            <a:srgbClr val="5482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523CE6-A5DE-4CCC-96FD-F167A35CFBBE}"/>
              </a:ext>
            </a:extLst>
          </p:cNvPr>
          <p:cNvSpPr txBox="1"/>
          <p:nvPr/>
        </p:nvSpPr>
        <p:spPr>
          <a:xfrm>
            <a:off x="5092700" y="3759200"/>
            <a:ext cx="20701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project →
assignee →
status, priority
deadline, time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9CE979B-3BDB-4117-B366-5785B496BF4B}"/>
              </a:ext>
            </a:extLst>
          </p:cNvPr>
          <p:cNvSpPr/>
          <p:nvPr/>
        </p:nvSpPr>
        <p:spPr>
          <a:xfrm>
            <a:off x="7327900" y="3429000"/>
            <a:ext cx="2222500" cy="1206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5482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55B86A4-7090-4472-8873-B62EFF7D8286}"/>
              </a:ext>
            </a:extLst>
          </p:cNvPr>
          <p:cNvSpPr/>
          <p:nvPr/>
        </p:nvSpPr>
        <p:spPr>
          <a:xfrm>
            <a:off x="7327900" y="3429000"/>
            <a:ext cx="2222500" cy="304800"/>
          </a:xfrm>
          <a:prstGeom prst="rect">
            <a:avLst/>
          </a:prstGeom>
          <a:solidFill>
            <a:srgbClr val="5482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Subtask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44A5FD-7381-42B8-87DC-A635F93DA1F3}"/>
              </a:ext>
            </a:extLst>
          </p:cNvPr>
          <p:cNvSpPr txBox="1"/>
          <p:nvPr/>
        </p:nvSpPr>
        <p:spPr>
          <a:xfrm>
            <a:off x="7404100" y="3759200"/>
            <a:ext cx="2070100" cy="850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task →
title
is_done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C057E3D-1D6A-4633-B71A-BD84AEBB511E}"/>
              </a:ext>
            </a:extLst>
          </p:cNvPr>
          <p:cNvSpPr/>
          <p:nvPr/>
        </p:nvSpPr>
        <p:spPr>
          <a:xfrm>
            <a:off x="9588500" y="3429000"/>
            <a:ext cx="2222500" cy="1206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5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A462092-E009-4834-840C-1CA98E907A1A}"/>
              </a:ext>
            </a:extLst>
          </p:cNvPr>
          <p:cNvSpPr/>
          <p:nvPr/>
        </p:nvSpPr>
        <p:spPr>
          <a:xfrm>
            <a:off x="9588500" y="3429000"/>
            <a:ext cx="2222500" cy="304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ChatMessage</a:t>
            </a:r>
            <a:endParaRPr lang="ru-RU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BD2272-9B00-4AF4-9392-495776412061}"/>
              </a:ext>
            </a:extLst>
          </p:cNvPr>
          <p:cNvSpPr txBox="1"/>
          <p:nvPr/>
        </p:nvSpPr>
        <p:spPr>
          <a:xfrm>
            <a:off x="9664700" y="3759200"/>
            <a:ext cx="2070100" cy="850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company →
author →
text, created_at</a:t>
            </a:r>
            <a:endParaRPr lang="ru-RU" sz="110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6A325E1A-7144-4F26-A3A4-611ED2B82850}"/>
              </a:ext>
            </a:extLst>
          </p:cNvPr>
          <p:cNvCxnSpPr/>
          <p:nvPr/>
        </p:nvCxnSpPr>
        <p:spPr>
          <a:xfrm>
            <a:off x="1485900" y="2857500"/>
            <a:ext cx="914400" cy="571500"/>
          </a:xfrm>
          <a:prstGeom prst="straightConnector1">
            <a:avLst/>
          </a:prstGeom>
          <a:ln w="15875" cap="flat" cmpd="sng" algn="ctr">
            <a:solidFill>
              <a:srgbClr val="636E8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28A23FC-EAEE-4E5C-B5ED-CECFAFCE6DC0}"/>
              </a:ext>
            </a:extLst>
          </p:cNvPr>
          <p:cNvCxnSpPr/>
          <p:nvPr/>
        </p:nvCxnSpPr>
        <p:spPr>
          <a:xfrm>
            <a:off x="3797300" y="2857500"/>
            <a:ext cx="2324100" cy="571500"/>
          </a:xfrm>
          <a:prstGeom prst="straightConnector1">
            <a:avLst/>
          </a:prstGeom>
          <a:ln w="15875" cap="flat" cmpd="sng" algn="ctr">
            <a:solidFill>
              <a:srgbClr val="636E8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15EC14-10AB-433B-98C9-F40C976AB17A}"/>
              </a:ext>
            </a:extLst>
          </p:cNvPr>
          <p:cNvSpPr txBox="1"/>
          <p:nvPr/>
        </p:nvSpPr>
        <p:spPr>
          <a:xfrm>
            <a:off x="381000" y="48260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636E80"/>
                </a:solidFill>
                <a:latin typeface="Calibri"/>
                <a:ea typeface="Calibri"/>
                <a:cs typeface="Calibri"/>
              </a:rPr>
              <a:t>Сущности из приложений users · companies · tasks · chat · activity</a:t>
            </a:r>
            <a:endParaRPr lang="ru-RU" sz="1200" i="1">
              <a:solidFill>
                <a:srgbClr val="636E8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807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59180-D74A-F564-A006-706140FA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3200" b="1" dirty="0">
                <a:solidFill>
                  <a:srgbClr val="1F4E79"/>
                </a:solidFill>
                <a:latin typeface="Cambria"/>
              </a:rPr>
              <a:t>Роли и мультитенантность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F85115-DB60-F157-3A84-0167F0CC9E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ts val="2400"/>
              </a:lnSpc>
              <a:spcAft>
                <a:spcPts val="400"/>
              </a:spcAft>
              <a:buNone/>
            </a:pPr>
            <a:r>
              <a:rPr lang="ru-RU" sz="2000" b="1" dirty="0">
                <a:solidFill>
                  <a:srgbClr val="1F4E79"/>
                </a:solidFill>
                <a:latin typeface="Cambria"/>
              </a:rPr>
              <a:t>Изоляция данных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Аккаунт пользователя может состоять в нескольких компаниях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Данные задач, проектов и чатов привязаны к компании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Запросы DRF фильтруются по текущей company_id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Отдельные права на чтение, изменение, удаление, приглашение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E731F5-B83A-4B59-F0C8-23A0BB67E0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ts val="2400"/>
              </a:lnSpc>
              <a:spcAft>
                <a:spcPts val="400"/>
              </a:spcAft>
              <a:buNone/>
            </a:pPr>
            <a:r>
              <a:rPr lang="ru-RU" sz="2000" b="1" dirty="0">
                <a:solidFill>
                  <a:srgbClr val="1F4E79"/>
                </a:solidFill>
                <a:latin typeface="Cambria"/>
              </a:rPr>
              <a:t>Ролевая модель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Owner — создатель компании, полный доступ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Admin — управление участниками и проектами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Member — работа с задачами в рамках выданных прав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Custom-роли — гибкий набор разрешений под нужды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321512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7A3E8-80C9-86B3-4B9A-AF8862A5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latin typeface="Cambria"/>
                <a:ea typeface="Cambria"/>
              </a:rPr>
              <a:t>AI-модуль: генерация и анализ задач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0E347DA-B617-4AAB-A15B-AEECEA839DDC}"/>
              </a:ext>
            </a:extLst>
          </p:cNvPr>
          <p:cNvSpPr/>
          <p:nvPr/>
        </p:nvSpPr>
        <p:spPr>
          <a:xfrm>
            <a:off x="317500" y="1841500"/>
            <a:ext cx="2540000" cy="762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ru-RU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Описание
проекта от пользователя</a:t>
            </a:r>
          </a:p>
        </p:txBody>
      </p:sp>
      <p:sp>
        <p:nvSpPr>
          <p:cNvPr id="4" name="Стрелка: вправо 3">
            <a:extLst>
              <a:ext uri="{FF2B5EF4-FFF2-40B4-BE49-F238E27FC236}">
                <a16:creationId xmlns:a16="http://schemas.microsoft.com/office/drawing/2014/main" id="{C499A9B8-E685-4CED-9C76-AF526FA1801F}"/>
              </a:ext>
            </a:extLst>
          </p:cNvPr>
          <p:cNvSpPr/>
          <p:nvPr/>
        </p:nvSpPr>
        <p:spPr>
          <a:xfrm>
            <a:off x="2921000" y="2146300"/>
            <a:ext cx="2540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D57021A-E769-4FEF-AC7C-BE78835586C8}"/>
              </a:ext>
            </a:extLst>
          </p:cNvPr>
          <p:cNvSpPr/>
          <p:nvPr/>
        </p:nvSpPr>
        <p:spPr>
          <a:xfrm>
            <a:off x="3175000" y="1841500"/>
            <a:ext cx="2540000" cy="762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Промпт
Cerebras Llama 3.1 8B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93605593-8B4D-4676-A7E1-A749186D2A70}"/>
              </a:ext>
            </a:extLst>
          </p:cNvPr>
          <p:cNvSpPr/>
          <p:nvPr/>
        </p:nvSpPr>
        <p:spPr>
          <a:xfrm>
            <a:off x="5778500" y="2146300"/>
            <a:ext cx="2540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00125DD-250D-4D5E-B9E6-F113E2800D46}"/>
              </a:ext>
            </a:extLst>
          </p:cNvPr>
          <p:cNvSpPr/>
          <p:nvPr/>
        </p:nvSpPr>
        <p:spPr>
          <a:xfrm>
            <a:off x="6096000" y="1841500"/>
            <a:ext cx="2540000" cy="762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JSON-</a:t>
            </a:r>
            <a:r>
              <a:rPr lang="ru-RU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ответ
со списком задач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E87A04D6-9130-4173-9E1B-E8327D0A0902}"/>
              </a:ext>
            </a:extLst>
          </p:cNvPr>
          <p:cNvSpPr/>
          <p:nvPr/>
        </p:nvSpPr>
        <p:spPr>
          <a:xfrm>
            <a:off x="8699500" y="2146300"/>
            <a:ext cx="254000" cy="177800"/>
          </a:xfrm>
          <a:prstGeom prst="rightArrow">
            <a:avLst/>
          </a:prstGeom>
          <a:solidFill>
            <a:srgbClr val="636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7EEEF86-B6E4-4E9D-A701-92FB69858980}"/>
              </a:ext>
            </a:extLst>
          </p:cNvPr>
          <p:cNvSpPr/>
          <p:nvPr/>
        </p:nvSpPr>
        <p:spPr>
          <a:xfrm>
            <a:off x="9017000" y="1841500"/>
            <a:ext cx="2540000" cy="762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ru-RU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Сохранение
в 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 / Subtask</a:t>
            </a:r>
            <a:endParaRPr lang="ru-RU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65BA8-F618-497B-B233-832E40997F29}"/>
              </a:ext>
            </a:extLst>
          </p:cNvPr>
          <p:cNvSpPr txBox="1"/>
          <p:nvPr/>
        </p:nvSpPr>
        <p:spPr>
          <a:xfrm>
            <a:off x="381000" y="3048000"/>
            <a:ext cx="558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b="1">
                <a:solidFill>
                  <a:srgbClr val="1F4E79"/>
                </a:solidFill>
                <a:latin typeface="Cambria"/>
                <a:ea typeface="Cambria"/>
              </a:rPr>
              <a:t>Сценарии использования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AAC02-886F-4882-BC23-6C295F581BD6}"/>
              </a:ext>
            </a:extLst>
          </p:cNvPr>
          <p:cNvSpPr txBox="1"/>
          <p:nvPr/>
        </p:nvSpPr>
        <p:spPr>
          <a:xfrm>
            <a:off x="381000" y="3429000"/>
            <a:ext cx="5588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50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Автогенерация</a:t>
            </a:r>
            <a:r>
              <a:rPr lang="ru-RU" sz="150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задач и подзадач из описания проекта
•  Декомпозиция большой задачи на пошаговые подзадачи
•  Анализ статуса задачи и рекомендации по приоритетам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1B3EDE-0856-4BEA-8DFA-83F198DF741E}"/>
              </a:ext>
            </a:extLst>
          </p:cNvPr>
          <p:cNvSpPr txBox="1"/>
          <p:nvPr/>
        </p:nvSpPr>
        <p:spPr>
          <a:xfrm>
            <a:off x="6223000" y="3048000"/>
            <a:ext cx="558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b="1">
                <a:solidFill>
                  <a:srgbClr val="1F4E79"/>
                </a:solidFill>
                <a:latin typeface="Cambria"/>
                <a:ea typeface="Cambria"/>
              </a:rPr>
              <a:t>Особенности интеграции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90D36-1DEF-474E-B097-203B97F80B25}"/>
              </a:ext>
            </a:extLst>
          </p:cNvPr>
          <p:cNvSpPr txBox="1"/>
          <p:nvPr/>
        </p:nvSpPr>
        <p:spPr>
          <a:xfrm>
            <a:off x="6223000" y="3429000"/>
            <a:ext cx="5588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5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•  Запросы отправляются напрямую из браузера
•  Render не участвует в AI-трафике — экономия ресурсов
•  Структурированный JSON-ответ для безопасного импорта</a:t>
            </a:r>
          </a:p>
        </p:txBody>
      </p:sp>
    </p:spTree>
    <p:extLst>
      <p:ext uri="{BB962C8B-B14F-4D97-AF65-F5344CB8AC3E}">
        <p14:creationId xmlns:p14="http://schemas.microsoft.com/office/powerpoint/2010/main" val="23560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B8296-9484-C246-72E2-233E0634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ru-RU" sz="5400" b="1" dirty="0">
                <a:solidFill>
                  <a:srgbClr val="1F4E79"/>
                </a:solidFill>
                <a:latin typeface="Cambria"/>
              </a:rPr>
              <a:t>Демонстрация</a:t>
            </a:r>
          </a:p>
          <a:p>
            <a:pPr algn="ctr">
              <a:buNone/>
            </a:pPr>
            <a:r>
              <a:rPr lang="ru-RU" sz="2000" dirty="0">
                <a:solidFill>
                  <a:srgbClr val="636E80"/>
                </a:solidFill>
                <a:latin typeface="Calibri"/>
              </a:rPr>
              <a:t>Живой показ работы 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A0D2D4-E37F-2856-D610-6655AF630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sz="1600" dirty="0">
                <a:solidFill>
                  <a:srgbClr val="1F2A44"/>
                </a:solidFill>
                <a:latin typeface="Calibri"/>
              </a:rPr>
              <a:t>task-scheduler-snowy.vercel.app</a:t>
            </a:r>
          </a:p>
          <a:p>
            <a:pPr algn="ctr">
              <a:buNone/>
            </a:pPr>
            <a:r>
              <a:rPr lang="ru-RU" sz="1400" i="1" dirty="0">
                <a:solidFill>
                  <a:srgbClr val="636E80"/>
                </a:solidFill>
                <a:latin typeface="Calibri"/>
              </a:rPr>
              <a:t>Регистрация → создание компании → Kanban → AI-генерация задач → чат</a:t>
            </a:r>
          </a:p>
        </p:txBody>
      </p:sp>
    </p:spTree>
    <p:extLst>
      <p:ext uri="{BB962C8B-B14F-4D97-AF65-F5344CB8AC3E}">
        <p14:creationId xmlns:p14="http://schemas.microsoft.com/office/powerpoint/2010/main" val="378090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64A6E-F527-A0CC-53E2-0BBA40FF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3200" b="1" dirty="0">
                <a:solidFill>
                  <a:srgbClr val="1F4E79"/>
                </a:solidFill>
                <a:latin typeface="Cambria"/>
              </a:rPr>
              <a:t>Результаты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5BCD0-C87D-718C-733C-90DAE5608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Реализовано полнофункциональное SPA-приложение: 5 модулей (users, companies, tasks, activity, chat) и более 30 REST-эндпоинтов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Три представления задач — Kanban с drag-and-drop, табличный список, диаграмма Ганта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Гибкая ролевая модель: три встроенные роли и кастомные роли с настройкой прав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Интеграция AI: автоматическая генерация задач и анализ состояния проекта через Cerebras Llama 3.1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Развёртывание в production: бэкенд на Render + PostgreSQL, фронтенд на Vercel, доступен по публичному URL</a:t>
            </a:r>
          </a:p>
          <a:p>
            <a:pPr marL="285750" indent="-285750">
              <a:lnSpc>
                <a:spcPts val="2200"/>
              </a:lnSpc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Автоматическая документация OpenAPI / Swagger-UI для всех эндпоинтов API</a:t>
            </a:r>
          </a:p>
        </p:txBody>
      </p:sp>
    </p:spTree>
    <p:extLst>
      <p:ext uri="{BB962C8B-B14F-4D97-AF65-F5344CB8AC3E}">
        <p14:creationId xmlns:p14="http://schemas.microsoft.com/office/powerpoint/2010/main" val="1347383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323EF-B7E4-1328-4AAB-7733AEDC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3200" b="1" dirty="0">
                <a:solidFill>
                  <a:srgbClr val="1F4E79"/>
                </a:solidFill>
                <a:latin typeface="Cambria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7E70F4-F965-CA13-4995-ACB37C10A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buNone/>
            </a:pPr>
            <a:r>
              <a:rPr lang="ru-RU" sz="2000" b="1" dirty="0">
                <a:solidFill>
                  <a:srgbClr val="1F4E79"/>
                </a:solidFill>
                <a:latin typeface="Cambria"/>
              </a:rPr>
              <a:t>Итоги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Реализован полнофункциональный корпоративный планировщик задач с поддержкой Kanban, списка и диаграммы Ганта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Спроектирована ролевая модель с мультитенантностью и кастомными правами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Интегрирован AI-помощник на базе Cerebras Llama 3.1 для генерации и анализа задач</a:t>
            </a:r>
          </a:p>
          <a:p>
            <a:pPr>
              <a:spcBef>
                <a:spcPts val="800"/>
              </a:spcBef>
              <a:buNone/>
            </a:pPr>
            <a:r>
              <a:rPr lang="ru-RU" sz="2000" b="1" dirty="0">
                <a:solidFill>
                  <a:srgbClr val="1F4E79"/>
                </a:solidFill>
                <a:latin typeface="Cambria"/>
              </a:rPr>
              <a:t>Направления развития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Перевод чата и уведомлений на WebSocket для реального времени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Font typeface="Arial"/>
              <a:buChar char="•"/>
            </a:pPr>
            <a:r>
              <a:rPr lang="ru-RU" sz="1700" dirty="0">
                <a:solidFill>
                  <a:srgbClr val="1F2A44"/>
                </a:solidFill>
                <a:latin typeface="Calibri"/>
              </a:rPr>
              <a:t>Мобильное приложение и Push-уведомления; интеграция с календарями и Telegram</a:t>
            </a:r>
          </a:p>
        </p:txBody>
      </p:sp>
    </p:spTree>
    <p:extLst>
      <p:ext uri="{BB962C8B-B14F-4D97-AF65-F5344CB8AC3E}">
        <p14:creationId xmlns:p14="http://schemas.microsoft.com/office/powerpoint/2010/main" val="3413689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[1778774946116]">
  <a:themeElements>
    <a:clrScheme name="Стандартная">
      <a:dk1>
        <a:srgbClr val="1F2A44"/>
      </a:dk1>
      <a:lt1>
        <a:srgbClr val="FFFFFF"/>
      </a:lt1>
      <a:dk2>
        <a:srgbClr val="2C3E5C"/>
      </a:dk2>
      <a:lt2>
        <a:srgbClr val="F4F6FA"/>
      </a:lt2>
      <a:accent1>
        <a:srgbClr val="1F4E79"/>
      </a:accent1>
      <a:accent2>
        <a:srgbClr val="2E75B6"/>
      </a:accent2>
      <a:accent3>
        <a:srgbClr val="548235"/>
      </a:accent3>
      <a:accent4>
        <a:srgbClr val="BF8F00"/>
      </a:accent4>
      <a:accent5>
        <a:srgbClr val="843C0C"/>
      </a:accent5>
      <a:accent6>
        <a:srgbClr val="636E80"/>
      </a:accent6>
      <a:hlink>
        <a:srgbClr val="467886"/>
      </a:hlink>
      <a:folHlink>
        <a:srgbClr val="96607D"/>
      </a:folHlink>
    </a:clrScheme>
    <a:fontScheme name="Стандартная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CCF39D-9D96-4E30-83D5-C68483580E60}">
  <we:reference id="wa200010725" version="1.0.0.1" store="ru-RU" storeType="OMEX"/>
  <we:alternateReferences>
    <we:reference id="wa200010725" version="1.0.0.1" store="wa200010725" storeType="OMEX"/>
  </we:alternateReferences>
  <we:properties>
    <we:property name="claude.fileId" value="&quot;d0c9b267-e45b-4185-b48c-df910c5ad4c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751</Words>
  <Application>Microsoft Office PowerPoint</Application>
  <PresentationFormat>Широкоэкранный</PresentationFormat>
  <Paragraphs>130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Тема Office [1778774946116]</vt:lpstr>
      <vt:lpstr>ControlFlow Корпоративный планировщик задач с Kanban-доской, ролевой моделью и AI-генерацией</vt:lpstr>
      <vt:lpstr>Актуальность</vt:lpstr>
      <vt:lpstr>Цель и задачи</vt:lpstr>
      <vt:lpstr>Функциональность системы</vt:lpstr>
      <vt:lpstr>Архитектура системы</vt:lpstr>
      <vt:lpstr>Технологический стек</vt:lpstr>
      <vt:lpstr>Модель данных</vt:lpstr>
      <vt:lpstr>Роли и мультитенантность</vt:lpstr>
      <vt:lpstr>AI-модуль: генерация и анализ задач</vt:lpstr>
      <vt:lpstr>Демонстрация Живой показ работы системы</vt:lpstr>
      <vt:lpstr>Результаты разработки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Sheronov</dc:creator>
  <cp:lastModifiedBy>Denis Sheronov</cp:lastModifiedBy>
  <cp:revision>2</cp:revision>
  <dcterms:created xsi:type="dcterms:W3CDTF">2026-05-14T16:09:05Z</dcterms:created>
  <dcterms:modified xsi:type="dcterms:W3CDTF">2026-05-14T16:19:18Z</dcterms:modified>
</cp:coreProperties>
</file>